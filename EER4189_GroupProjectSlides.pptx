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7" r:id="rId6"/>
    <p:sldId id="260" r:id="rId7"/>
    <p:sldId id="261"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28A701F-3900-43D8-86C0-1078D4C33053}"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170F32-06BF-4917-AE44-6EE69148C6F5}" type="slidenum">
              <a:rPr lang="en-US" smtClean="0"/>
              <a:t>‹#›</a:t>
            </a:fld>
            <a:endParaRPr lang="en-US"/>
          </a:p>
        </p:txBody>
      </p:sp>
    </p:spTree>
    <p:extLst>
      <p:ext uri="{BB962C8B-B14F-4D97-AF65-F5344CB8AC3E}">
        <p14:creationId xmlns:p14="http://schemas.microsoft.com/office/powerpoint/2010/main" val="17894288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8A701F-3900-43D8-86C0-1078D4C33053}"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170F32-06BF-4917-AE44-6EE69148C6F5}" type="slidenum">
              <a:rPr lang="en-US" smtClean="0"/>
              <a:t>‹#›</a:t>
            </a:fld>
            <a:endParaRPr lang="en-US"/>
          </a:p>
        </p:txBody>
      </p:sp>
    </p:spTree>
    <p:extLst>
      <p:ext uri="{BB962C8B-B14F-4D97-AF65-F5344CB8AC3E}">
        <p14:creationId xmlns:p14="http://schemas.microsoft.com/office/powerpoint/2010/main" val="3486309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8A701F-3900-43D8-86C0-1078D4C33053}"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170F32-06BF-4917-AE44-6EE69148C6F5}" type="slidenum">
              <a:rPr lang="en-US" smtClean="0"/>
              <a:t>‹#›</a:t>
            </a:fld>
            <a:endParaRPr lang="en-US"/>
          </a:p>
        </p:txBody>
      </p:sp>
    </p:spTree>
    <p:extLst>
      <p:ext uri="{BB962C8B-B14F-4D97-AF65-F5344CB8AC3E}">
        <p14:creationId xmlns:p14="http://schemas.microsoft.com/office/powerpoint/2010/main" val="154002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28A701F-3900-43D8-86C0-1078D4C33053}"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170F32-06BF-4917-AE44-6EE69148C6F5}" type="slidenum">
              <a:rPr lang="en-US" smtClean="0"/>
              <a:t>‹#›</a:t>
            </a:fld>
            <a:endParaRPr lang="en-US"/>
          </a:p>
        </p:txBody>
      </p:sp>
    </p:spTree>
    <p:extLst>
      <p:ext uri="{BB962C8B-B14F-4D97-AF65-F5344CB8AC3E}">
        <p14:creationId xmlns:p14="http://schemas.microsoft.com/office/powerpoint/2010/main" val="3470115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28A701F-3900-43D8-86C0-1078D4C33053}" type="datetimeFigureOut">
              <a:rPr lang="en-US" smtClean="0"/>
              <a:t>6/29/2026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2170F32-06BF-4917-AE44-6EE69148C6F5}" type="slidenum">
              <a:rPr lang="en-US" smtClean="0"/>
              <a:t>‹#›</a:t>
            </a:fld>
            <a:endParaRPr lang="en-US"/>
          </a:p>
        </p:txBody>
      </p:sp>
    </p:spTree>
    <p:extLst>
      <p:ext uri="{BB962C8B-B14F-4D97-AF65-F5344CB8AC3E}">
        <p14:creationId xmlns:p14="http://schemas.microsoft.com/office/powerpoint/2010/main" val="4283367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28A701F-3900-43D8-86C0-1078D4C33053}" type="datetimeFigureOut">
              <a:rPr lang="en-US" smtClean="0"/>
              <a:t>6/29/2026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2170F32-06BF-4917-AE44-6EE69148C6F5}" type="slidenum">
              <a:rPr lang="en-US" smtClean="0"/>
              <a:t>‹#›</a:t>
            </a:fld>
            <a:endParaRPr lang="en-US"/>
          </a:p>
        </p:txBody>
      </p:sp>
    </p:spTree>
    <p:extLst>
      <p:ext uri="{BB962C8B-B14F-4D97-AF65-F5344CB8AC3E}">
        <p14:creationId xmlns:p14="http://schemas.microsoft.com/office/powerpoint/2010/main" val="3040014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8A701F-3900-43D8-86C0-1078D4C33053}" type="datetimeFigureOut">
              <a:rPr lang="en-US" smtClean="0"/>
              <a:t>6/29/2026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2170F32-06BF-4917-AE44-6EE69148C6F5}" type="slidenum">
              <a:rPr lang="en-US" smtClean="0"/>
              <a:t>‹#›</a:t>
            </a:fld>
            <a:endParaRPr lang="en-US"/>
          </a:p>
        </p:txBody>
      </p:sp>
    </p:spTree>
    <p:extLst>
      <p:ext uri="{BB962C8B-B14F-4D97-AF65-F5344CB8AC3E}">
        <p14:creationId xmlns:p14="http://schemas.microsoft.com/office/powerpoint/2010/main" val="1107806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28A701F-3900-43D8-86C0-1078D4C33053}"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170F32-06BF-4917-AE44-6EE69148C6F5}" type="slidenum">
              <a:rPr lang="en-US" smtClean="0"/>
              <a:t>‹#›</a:t>
            </a:fld>
            <a:endParaRPr lang="en-US"/>
          </a:p>
        </p:txBody>
      </p:sp>
    </p:spTree>
    <p:extLst>
      <p:ext uri="{BB962C8B-B14F-4D97-AF65-F5344CB8AC3E}">
        <p14:creationId xmlns:p14="http://schemas.microsoft.com/office/powerpoint/2010/main" val="2818560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28A701F-3900-43D8-86C0-1078D4C33053}"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2170F32-06BF-4917-AE44-6EE69148C6F5}" type="slidenum">
              <a:rPr lang="en-US" smtClean="0"/>
              <a:t>‹#›</a:t>
            </a:fld>
            <a:endParaRPr lang="en-US"/>
          </a:p>
        </p:txBody>
      </p:sp>
    </p:spTree>
    <p:extLst>
      <p:ext uri="{BB962C8B-B14F-4D97-AF65-F5344CB8AC3E}">
        <p14:creationId xmlns:p14="http://schemas.microsoft.com/office/powerpoint/2010/main" val="33114219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8A701F-3900-43D8-86C0-1078D4C33053}"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170F32-06BF-4917-AE44-6EE69148C6F5}" type="slidenum">
              <a:rPr lang="en-US" smtClean="0"/>
              <a:t>‹#›</a:t>
            </a:fld>
            <a:endParaRPr lang="en-US"/>
          </a:p>
        </p:txBody>
      </p:sp>
    </p:spTree>
    <p:extLst>
      <p:ext uri="{BB962C8B-B14F-4D97-AF65-F5344CB8AC3E}">
        <p14:creationId xmlns:p14="http://schemas.microsoft.com/office/powerpoint/2010/main" val="807368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8A701F-3900-43D8-86C0-1078D4C33053}"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170F32-06BF-4917-AE44-6EE69148C6F5}" type="slidenum">
              <a:rPr lang="en-US" smtClean="0"/>
              <a:t>‹#›</a:t>
            </a:fld>
            <a:endParaRPr lang="en-US"/>
          </a:p>
        </p:txBody>
      </p:sp>
    </p:spTree>
    <p:extLst>
      <p:ext uri="{BB962C8B-B14F-4D97-AF65-F5344CB8AC3E}">
        <p14:creationId xmlns:p14="http://schemas.microsoft.com/office/powerpoint/2010/main" val="1810787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8A701F-3900-43D8-86C0-1078D4C33053}" type="datetimeFigureOut">
              <a:rPr lang="en-US" smtClean="0"/>
              <a:t>6/29/2026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170F32-06BF-4917-AE44-6EE69148C6F5}" type="slidenum">
              <a:rPr lang="en-US" smtClean="0"/>
              <a:t>‹#›</a:t>
            </a:fld>
            <a:endParaRPr lang="en-US"/>
          </a:p>
        </p:txBody>
      </p:sp>
    </p:spTree>
    <p:extLst>
      <p:ext uri="{BB962C8B-B14F-4D97-AF65-F5344CB8AC3E}">
        <p14:creationId xmlns:p14="http://schemas.microsoft.com/office/powerpoint/2010/main" val="28207676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71C41-1675-A262-B697-9BF4B73036F3}"/>
              </a:ext>
            </a:extLst>
          </p:cNvPr>
          <p:cNvSpPr>
            <a:spLocks noGrp="1"/>
          </p:cNvSpPr>
          <p:nvPr>
            <p:ph type="ctrTitle"/>
          </p:nvPr>
        </p:nvSpPr>
        <p:spPr>
          <a:xfrm>
            <a:off x="1300222" y="753734"/>
            <a:ext cx="9946511" cy="2086249"/>
          </a:xfrm>
        </p:spPr>
        <p:txBody>
          <a:bodyPr anchor="ctr">
            <a:normAutofit/>
          </a:bodyPr>
          <a:lstStyle/>
          <a:p>
            <a:pPr algn="l"/>
            <a:r>
              <a:rPr lang="en-US" b="1" u="sng" dirty="0" err="1">
                <a:latin typeface="Times New Roman" panose="02020603050405020304" pitchFamily="18" charset="0"/>
                <a:cs typeface="Times New Roman" panose="02020603050405020304" pitchFamily="18" charset="0"/>
              </a:rPr>
              <a:t>EER4189</a:t>
            </a:r>
            <a:r>
              <a:rPr lang="en-US" b="1" u="sng" dirty="0">
                <a:latin typeface="Times New Roman" panose="02020603050405020304" pitchFamily="18" charset="0"/>
                <a:cs typeface="Times New Roman" panose="02020603050405020304" pitchFamily="18" charset="0"/>
              </a:rPr>
              <a:t> Software Design in Group</a:t>
            </a:r>
          </a:p>
        </p:txBody>
      </p:sp>
      <p:sp>
        <p:nvSpPr>
          <p:cNvPr id="3" name="Subtitle 2">
            <a:extLst>
              <a:ext uri="{FF2B5EF4-FFF2-40B4-BE49-F238E27FC236}">
                <a16:creationId xmlns:a16="http://schemas.microsoft.com/office/drawing/2014/main" id="{2F32CADC-AA93-2512-F119-5EF60714D44A}"/>
              </a:ext>
            </a:extLst>
          </p:cNvPr>
          <p:cNvSpPr>
            <a:spLocks noGrp="1"/>
          </p:cNvSpPr>
          <p:nvPr>
            <p:ph type="subTitle" idx="1"/>
          </p:nvPr>
        </p:nvSpPr>
        <p:spPr>
          <a:xfrm>
            <a:off x="1404393" y="3470320"/>
            <a:ext cx="10035767" cy="631825"/>
          </a:xfrm>
        </p:spPr>
        <p:txBody>
          <a:bodyPr anchor="ctr">
            <a:normAutofit/>
          </a:bodyPr>
          <a:lstStyle/>
          <a:p>
            <a:pPr algn="l"/>
            <a:r>
              <a:rPr lang="en-US" sz="3000" b="1" dirty="0">
                <a:latin typeface="Times New Roman" panose="02020603050405020304" pitchFamily="18" charset="0"/>
                <a:cs typeface="Times New Roman" panose="02020603050405020304" pitchFamily="18" charset="0"/>
              </a:rPr>
              <a:t>Project title :  </a:t>
            </a:r>
            <a:r>
              <a:rPr lang="en-US" sz="3000" dirty="0">
                <a:latin typeface="Times New Roman" panose="02020603050405020304" pitchFamily="18" charset="0"/>
                <a:cs typeface="Times New Roman" panose="02020603050405020304" pitchFamily="18" charset="0"/>
              </a:rPr>
              <a:t>Open University Short course web site (KRC)</a:t>
            </a:r>
          </a:p>
        </p:txBody>
      </p:sp>
      <p:sp>
        <p:nvSpPr>
          <p:cNvPr id="16" name="Rectangle 15">
            <a:extLst>
              <a:ext uri="{FF2B5EF4-FFF2-40B4-BE49-F238E27FC236}">
                <a16:creationId xmlns:a16="http://schemas.microsoft.com/office/drawing/2014/main" id="{0CD86994-A124-C833-E072-17D25B70AEB9}"/>
              </a:ext>
            </a:extLst>
          </p:cNvPr>
          <p:cNvSpPr/>
          <p:nvPr/>
        </p:nvSpPr>
        <p:spPr>
          <a:xfrm>
            <a:off x="532437" y="856526"/>
            <a:ext cx="196770" cy="1886673"/>
          </a:xfrm>
          <a:prstGeom prst="rect">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082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80DB7-6CA6-1CF3-AAAE-A01ECFBF7D13}"/>
              </a:ext>
            </a:extLst>
          </p:cNvPr>
          <p:cNvSpPr>
            <a:spLocks noGrp="1"/>
          </p:cNvSpPr>
          <p:nvPr>
            <p:ph type="title"/>
          </p:nvPr>
        </p:nvSpPr>
        <p:spPr>
          <a:xfrm>
            <a:off x="1058117" y="363696"/>
            <a:ext cx="10515600" cy="1325563"/>
          </a:xfrm>
        </p:spPr>
        <p:txBody>
          <a:bodyPr>
            <a:normAutofit/>
          </a:bodyPr>
          <a:lstStyle/>
          <a:p>
            <a:r>
              <a:rPr lang="en-US" b="1" u="sng" dirty="0">
                <a:latin typeface="Times New Roman" panose="02020603050405020304" pitchFamily="18" charset="0"/>
                <a:cs typeface="Times New Roman" panose="02020603050405020304" pitchFamily="18" charset="0"/>
              </a:rPr>
              <a:t>Project Team Description</a:t>
            </a:r>
            <a:endParaRPr lang="en-US" dirty="0"/>
          </a:p>
        </p:txBody>
      </p:sp>
      <p:sp>
        <p:nvSpPr>
          <p:cNvPr id="3" name="Content Placeholder 2">
            <a:extLst>
              <a:ext uri="{FF2B5EF4-FFF2-40B4-BE49-F238E27FC236}">
                <a16:creationId xmlns:a16="http://schemas.microsoft.com/office/drawing/2014/main" id="{F52D1058-2D11-D294-25B9-C684E5F143DF}"/>
              </a:ext>
            </a:extLst>
          </p:cNvPr>
          <p:cNvSpPr>
            <a:spLocks noGrp="1"/>
          </p:cNvSpPr>
          <p:nvPr>
            <p:ph idx="1"/>
          </p:nvPr>
        </p:nvSpPr>
        <p:spPr>
          <a:xfrm>
            <a:off x="838200" y="2046961"/>
            <a:ext cx="3114040" cy="399415"/>
          </a:xfrm>
        </p:spPr>
        <p:txBody>
          <a:bodyPr>
            <a:normAutofit lnSpcReduction="10000"/>
          </a:bodyPr>
          <a:lstStyle/>
          <a:p>
            <a:pPr marL="0" indent="0">
              <a:buNone/>
            </a:pPr>
            <a:r>
              <a:rPr lang="en-US" sz="2500" b="1" dirty="0">
                <a:latin typeface="Times New Roman" panose="02020603050405020304" pitchFamily="18" charset="0"/>
                <a:cs typeface="Times New Roman" panose="02020603050405020304" pitchFamily="18" charset="0"/>
              </a:rPr>
              <a:t>Team Members – 04</a:t>
            </a:r>
          </a:p>
          <a:p>
            <a:endParaRPr lang="en-US" dirty="0"/>
          </a:p>
        </p:txBody>
      </p:sp>
      <p:graphicFrame>
        <p:nvGraphicFramePr>
          <p:cNvPr id="5" name="Table 4">
            <a:extLst>
              <a:ext uri="{FF2B5EF4-FFF2-40B4-BE49-F238E27FC236}">
                <a16:creationId xmlns:a16="http://schemas.microsoft.com/office/drawing/2014/main" id="{7250079D-D31A-B34D-221B-C7FC516161EA}"/>
              </a:ext>
            </a:extLst>
          </p:cNvPr>
          <p:cNvGraphicFramePr>
            <a:graphicFrameLocks noGrp="1"/>
          </p:cNvGraphicFramePr>
          <p:nvPr>
            <p:extLst>
              <p:ext uri="{D42A27DB-BD31-4B8C-83A1-F6EECF244321}">
                <p14:modId xmlns:p14="http://schemas.microsoft.com/office/powerpoint/2010/main" val="3146316914"/>
              </p:ext>
            </p:extLst>
          </p:nvPr>
        </p:nvGraphicFramePr>
        <p:xfrm>
          <a:off x="1668271" y="2859591"/>
          <a:ext cx="8855457" cy="3139440"/>
        </p:xfrm>
        <a:graphic>
          <a:graphicData uri="http://schemas.openxmlformats.org/drawingml/2006/table">
            <a:tbl>
              <a:tblPr firstRow="1" bandRow="1">
                <a:tableStyleId>{5940675A-B579-460E-94D1-54222C63F5DA}</a:tableStyleId>
              </a:tblPr>
              <a:tblGrid>
                <a:gridCol w="2931160">
                  <a:extLst>
                    <a:ext uri="{9D8B030D-6E8A-4147-A177-3AD203B41FA5}">
                      <a16:colId xmlns:a16="http://schemas.microsoft.com/office/drawing/2014/main" val="33518690"/>
                    </a:ext>
                  </a:extLst>
                </a:gridCol>
                <a:gridCol w="1778000">
                  <a:extLst>
                    <a:ext uri="{9D8B030D-6E8A-4147-A177-3AD203B41FA5}">
                      <a16:colId xmlns:a16="http://schemas.microsoft.com/office/drawing/2014/main" val="3415282146"/>
                    </a:ext>
                  </a:extLst>
                </a:gridCol>
                <a:gridCol w="2032000">
                  <a:extLst>
                    <a:ext uri="{9D8B030D-6E8A-4147-A177-3AD203B41FA5}">
                      <a16:colId xmlns:a16="http://schemas.microsoft.com/office/drawing/2014/main" val="672867340"/>
                    </a:ext>
                  </a:extLst>
                </a:gridCol>
                <a:gridCol w="2114297">
                  <a:extLst>
                    <a:ext uri="{9D8B030D-6E8A-4147-A177-3AD203B41FA5}">
                      <a16:colId xmlns:a16="http://schemas.microsoft.com/office/drawing/2014/main" val="414579539"/>
                    </a:ext>
                  </a:extLst>
                </a:gridCol>
              </a:tblGrid>
              <a:tr h="579120">
                <a:tc>
                  <a:txBody>
                    <a:bodyPr/>
                    <a:lstStyle/>
                    <a:p>
                      <a:r>
                        <a:rPr lang="en-US" b="1" dirty="0">
                          <a:latin typeface="Times New Roman" panose="02020603050405020304" pitchFamily="18" charset="0"/>
                          <a:cs typeface="Times New Roman" panose="02020603050405020304" pitchFamily="18" charset="0"/>
                        </a:rPr>
                        <a:t>Name</a:t>
                      </a:r>
                    </a:p>
                  </a:txBody>
                  <a:tcPr anchor="ctr"/>
                </a:tc>
                <a:tc>
                  <a:txBody>
                    <a:bodyPr/>
                    <a:lstStyle/>
                    <a:p>
                      <a:r>
                        <a:rPr lang="en-US" b="1" dirty="0">
                          <a:latin typeface="Times New Roman" panose="02020603050405020304" pitchFamily="18" charset="0"/>
                          <a:cs typeface="Times New Roman" panose="02020603050405020304" pitchFamily="18" charset="0"/>
                        </a:rPr>
                        <a:t>SID</a:t>
                      </a:r>
                    </a:p>
                  </a:txBody>
                  <a:tcPr anchor="ctr"/>
                </a:tc>
                <a:tc>
                  <a:txBody>
                    <a:bodyPr/>
                    <a:lstStyle/>
                    <a:p>
                      <a:r>
                        <a:rPr lang="en-US" b="1" dirty="0">
                          <a:latin typeface="Times New Roman" panose="02020603050405020304" pitchFamily="18" charset="0"/>
                          <a:cs typeface="Times New Roman" panose="02020603050405020304" pitchFamily="18" charset="0"/>
                        </a:rPr>
                        <a:t>Registration No.</a:t>
                      </a:r>
                    </a:p>
                  </a:txBody>
                  <a:tcPr anchor="ctr"/>
                </a:tc>
                <a:tc>
                  <a:txBody>
                    <a:bodyPr/>
                    <a:lstStyle/>
                    <a:p>
                      <a:r>
                        <a:rPr lang="en-US" b="1" dirty="0">
                          <a:latin typeface="Times New Roman" panose="02020603050405020304" pitchFamily="18" charset="0"/>
                          <a:cs typeface="Times New Roman" panose="02020603050405020304" pitchFamily="18" charset="0"/>
                        </a:rPr>
                        <a:t>Contact No.</a:t>
                      </a:r>
                    </a:p>
                  </a:txBody>
                  <a:tcPr anchor="ctr"/>
                </a:tc>
                <a:extLst>
                  <a:ext uri="{0D108BD9-81ED-4DB2-BD59-A6C34878D82A}">
                    <a16:rowId xmlns:a16="http://schemas.microsoft.com/office/drawing/2014/main" val="2569676789"/>
                  </a:ext>
                </a:extLst>
              </a:tr>
              <a:tr h="457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S.M.I.I.K Wimalasekara </a:t>
                      </a:r>
                    </a:p>
                    <a:p>
                      <a:pPr algn="l"/>
                      <a:endParaRPr lang="en-US" dirty="0">
                        <a:latin typeface="Times New Roman" panose="02020603050405020304" pitchFamily="18" charset="0"/>
                        <a:cs typeface="Times New Roman" panose="02020603050405020304" pitchFamily="18" charset="0"/>
                      </a:endParaRPr>
                    </a:p>
                  </a:txBody>
                  <a:tcPr/>
                </a:tc>
                <a:tc>
                  <a:txBody>
                    <a:bodyPr/>
                    <a:lstStyle/>
                    <a:p>
                      <a:pPr algn="l"/>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S92068547</a:t>
                      </a:r>
                      <a:r>
                        <a:rPr lang="en-US" sz="1800"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txBody>
                  <a:tcPr/>
                </a:tc>
                <a:tc>
                  <a:txBody>
                    <a:bodyPr/>
                    <a:lstStyle/>
                    <a:p>
                      <a:pPr algn="l"/>
                      <a:r>
                        <a:rPr lang="en-US" sz="1800" dirty="0">
                          <a:latin typeface="Times New Roman" panose="02020603050405020304" pitchFamily="18" charset="0"/>
                          <a:cs typeface="Times New Roman" panose="02020603050405020304" pitchFamily="18" charset="0"/>
                        </a:rPr>
                        <a:t>321428547</a:t>
                      </a:r>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0785653777</a:t>
                      </a:r>
                    </a:p>
                    <a:p>
                      <a:pPr algn="l"/>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89825756"/>
                  </a:ext>
                </a:extLst>
              </a:tr>
              <a:tr h="457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latin typeface="Times New Roman" panose="02020603050405020304" pitchFamily="18" charset="0"/>
                          <a:cs typeface="Times New Roman" panose="02020603050405020304" pitchFamily="18" charset="0"/>
                        </a:rPr>
                        <a:t>M.M.A.G.S.A</a:t>
                      </a:r>
                      <a:r>
                        <a:rPr lang="en-US" sz="1800" dirty="0">
                          <a:latin typeface="Times New Roman" panose="02020603050405020304" pitchFamily="18" charset="0"/>
                          <a:cs typeface="Times New Roman" panose="02020603050405020304" pitchFamily="18" charset="0"/>
                        </a:rPr>
                        <a:t> Warnathilake</a:t>
                      </a:r>
                    </a:p>
                    <a:p>
                      <a:pPr algn="l"/>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latin typeface="Times New Roman" panose="02020603050405020304" pitchFamily="18" charset="0"/>
                          <a:cs typeface="Times New Roman" panose="02020603050405020304" pitchFamily="18" charset="0"/>
                        </a:rPr>
                        <a:t>S22010276</a:t>
                      </a:r>
                      <a:endParaRPr lang="en-US" sz="1800" dirty="0">
                        <a:latin typeface="Times New Roman" panose="02020603050405020304" pitchFamily="18" charset="0"/>
                        <a:cs typeface="Times New Roman" panose="02020603050405020304" pitchFamily="18" charset="0"/>
                      </a:endParaRPr>
                    </a:p>
                    <a:p>
                      <a:pPr algn="l"/>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422514144</a:t>
                      </a:r>
                    </a:p>
                    <a:p>
                      <a:pPr algn="l"/>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0705766401</a:t>
                      </a:r>
                    </a:p>
                    <a:p>
                      <a:pPr algn="l"/>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73370849"/>
                  </a:ext>
                </a:extLst>
              </a:tr>
              <a:tr h="2946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latin typeface="Times New Roman" panose="02020603050405020304" pitchFamily="18" charset="0"/>
                          <a:cs typeface="Times New Roman" panose="02020603050405020304" pitchFamily="18" charset="0"/>
                        </a:rPr>
                        <a:t>R.K.T.D</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Gnanasekara</a:t>
                      </a:r>
                      <a:endParaRPr lang="en-US" sz="1800" dirty="0">
                        <a:latin typeface="Times New Roman" panose="02020603050405020304" pitchFamily="18" charset="0"/>
                        <a:cs typeface="Times New Roman" panose="02020603050405020304" pitchFamily="18" charset="0"/>
                      </a:endParaRPr>
                    </a:p>
                    <a:p>
                      <a:pPr algn="l"/>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latin typeface="Times New Roman" panose="02020603050405020304" pitchFamily="18" charset="0"/>
                          <a:cs typeface="Times New Roman" panose="02020603050405020304" pitchFamily="18" charset="0"/>
                        </a:rPr>
                        <a:t>S22010687</a:t>
                      </a:r>
                      <a:endParaRPr lang="en-US" sz="1800" dirty="0">
                        <a:latin typeface="Times New Roman" panose="02020603050405020304" pitchFamily="18" charset="0"/>
                        <a:cs typeface="Times New Roman" panose="02020603050405020304" pitchFamily="18" charset="0"/>
                      </a:endParaRPr>
                    </a:p>
                    <a:p>
                      <a:pPr algn="l"/>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622516105</a:t>
                      </a:r>
                    </a:p>
                    <a:p>
                      <a:pPr algn="l"/>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0702709680</a:t>
                      </a:r>
                    </a:p>
                    <a:p>
                      <a:pPr algn="l"/>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2920896"/>
                  </a:ext>
                </a:extLst>
              </a:tr>
              <a:tr h="457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K </a:t>
                      </a:r>
                      <a:r>
                        <a:rPr lang="en-US" sz="1800" dirty="0" err="1">
                          <a:latin typeface="Times New Roman" panose="02020603050405020304" pitchFamily="18" charset="0"/>
                          <a:cs typeface="Times New Roman" panose="02020603050405020304" pitchFamily="18" charset="0"/>
                        </a:rPr>
                        <a:t>Pushpakanthan</a:t>
                      </a:r>
                      <a:endParaRPr lang="en-US" sz="1800" dirty="0">
                        <a:latin typeface="Times New Roman" panose="02020603050405020304" pitchFamily="18" charset="0"/>
                        <a:cs typeface="Times New Roman" panose="02020603050405020304" pitchFamily="18" charset="0"/>
                      </a:endParaRPr>
                    </a:p>
                    <a:p>
                      <a:pPr algn="l"/>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latin typeface="Times New Roman" panose="02020603050405020304" pitchFamily="18" charset="0"/>
                          <a:cs typeface="Times New Roman" panose="02020603050405020304" pitchFamily="18" charset="0"/>
                        </a:rPr>
                        <a:t>S92061424</a:t>
                      </a:r>
                      <a:endParaRPr lang="en-US" sz="1800" dirty="0">
                        <a:latin typeface="Times New Roman" panose="02020603050405020304" pitchFamily="18" charset="0"/>
                        <a:cs typeface="Times New Roman" panose="02020603050405020304" pitchFamily="18" charset="0"/>
                      </a:endParaRPr>
                    </a:p>
                    <a:p>
                      <a:pPr algn="l"/>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121421424</a:t>
                      </a:r>
                    </a:p>
                    <a:p>
                      <a:pPr algn="l"/>
                      <a:endParaRPr lang="en-US"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0755415479</a:t>
                      </a:r>
                    </a:p>
                    <a:p>
                      <a:pPr algn="l"/>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95419508"/>
                  </a:ext>
                </a:extLst>
              </a:tr>
            </a:tbl>
          </a:graphicData>
        </a:graphic>
      </p:graphicFrame>
      <p:sp>
        <p:nvSpPr>
          <p:cNvPr id="6" name="Rectangle 5">
            <a:extLst>
              <a:ext uri="{FF2B5EF4-FFF2-40B4-BE49-F238E27FC236}">
                <a16:creationId xmlns:a16="http://schemas.microsoft.com/office/drawing/2014/main" id="{6044BED0-E3EC-5896-B4DE-D83831937191}"/>
              </a:ext>
            </a:extLst>
          </p:cNvPr>
          <p:cNvSpPr/>
          <p:nvPr/>
        </p:nvSpPr>
        <p:spPr>
          <a:xfrm>
            <a:off x="544011" y="509284"/>
            <a:ext cx="150471" cy="1006998"/>
          </a:xfrm>
          <a:prstGeom prst="rect">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2704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FB5E0-84DB-A996-59FB-9C41E651D5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0D0B38-1BF2-6FD1-8905-EF7FA2F2D83E}"/>
              </a:ext>
            </a:extLst>
          </p:cNvPr>
          <p:cNvSpPr>
            <a:spLocks noGrp="1"/>
          </p:cNvSpPr>
          <p:nvPr>
            <p:ph type="title"/>
          </p:nvPr>
        </p:nvSpPr>
        <p:spPr>
          <a:xfrm>
            <a:off x="1058117" y="363696"/>
            <a:ext cx="10515600" cy="1325563"/>
          </a:xfrm>
        </p:spPr>
        <p:txBody>
          <a:bodyPr>
            <a:normAutofit/>
          </a:bodyPr>
          <a:lstStyle/>
          <a:p>
            <a:r>
              <a:rPr lang="en-US" b="1" u="sng" dirty="0">
                <a:latin typeface="Times New Roman" panose="02020603050405020304" pitchFamily="18" charset="0"/>
                <a:cs typeface="Times New Roman" panose="02020603050405020304" pitchFamily="18" charset="0"/>
              </a:rPr>
              <a:t>Existing Problem</a:t>
            </a:r>
            <a:endParaRPr lang="en-US" dirty="0"/>
          </a:p>
        </p:txBody>
      </p:sp>
      <p:sp>
        <p:nvSpPr>
          <p:cNvPr id="6" name="Rectangle 5">
            <a:extLst>
              <a:ext uri="{FF2B5EF4-FFF2-40B4-BE49-F238E27FC236}">
                <a16:creationId xmlns:a16="http://schemas.microsoft.com/office/drawing/2014/main" id="{69CF39BD-C5AE-378D-630A-3A8EC099C450}"/>
              </a:ext>
            </a:extLst>
          </p:cNvPr>
          <p:cNvSpPr/>
          <p:nvPr/>
        </p:nvSpPr>
        <p:spPr>
          <a:xfrm>
            <a:off x="544011" y="509284"/>
            <a:ext cx="150471" cy="1006998"/>
          </a:xfrm>
          <a:prstGeom prst="rect">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ubtitle 2">
            <a:extLst>
              <a:ext uri="{FF2B5EF4-FFF2-40B4-BE49-F238E27FC236}">
                <a16:creationId xmlns:a16="http://schemas.microsoft.com/office/drawing/2014/main" id="{4DD6DCDF-71B5-1D5B-81D8-E8B1F630537E}"/>
              </a:ext>
            </a:extLst>
          </p:cNvPr>
          <p:cNvSpPr txBox="1">
            <a:spLocks/>
          </p:cNvSpPr>
          <p:nvPr/>
        </p:nvSpPr>
        <p:spPr>
          <a:xfrm>
            <a:off x="694482" y="2042105"/>
            <a:ext cx="10613598" cy="36950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b="1" dirty="0">
                <a:latin typeface="Times New Roman" panose="02020603050405020304" pitchFamily="18" charset="0"/>
                <a:cs typeface="Times New Roman" panose="02020603050405020304" pitchFamily="18" charset="0"/>
              </a:rPr>
              <a:t>Title	: </a:t>
            </a:r>
            <a:r>
              <a:rPr lang="en-US" sz="2200" dirty="0">
                <a:latin typeface="Times New Roman" panose="02020603050405020304" pitchFamily="18" charset="0"/>
                <a:cs typeface="Times New Roman" panose="02020603050405020304" pitchFamily="18" charset="0"/>
              </a:rPr>
              <a:t>Open University Short course web site (KRC)</a:t>
            </a:r>
            <a:endParaRPr lang="en-US" sz="2200" b="1" dirty="0">
              <a:latin typeface="Times New Roman" panose="02020603050405020304" pitchFamily="18" charset="0"/>
              <a:cs typeface="Times New Roman" panose="02020603050405020304" pitchFamily="18" charset="0"/>
            </a:endParaRPr>
          </a:p>
          <a:p>
            <a:endParaRPr lang="en-US" sz="2200" b="1" dirty="0">
              <a:latin typeface="Times New Roman" panose="02020603050405020304" pitchFamily="18" charset="0"/>
              <a:cs typeface="Times New Roman" panose="02020603050405020304" pitchFamily="18" charset="0"/>
            </a:endParaRPr>
          </a:p>
          <a:p>
            <a:pPr algn="just"/>
            <a:r>
              <a:rPr lang="en-US" sz="2200" b="1" dirty="0">
                <a:latin typeface="Times New Roman" panose="02020603050405020304" pitchFamily="18" charset="0"/>
                <a:cs typeface="Times New Roman" panose="02020603050405020304" pitchFamily="18" charset="0"/>
              </a:rPr>
              <a:t>Description	: </a:t>
            </a:r>
            <a:r>
              <a:rPr lang="en-US" sz="2200" dirty="0">
                <a:latin typeface="Times New Roman" panose="02020603050405020304" pitchFamily="18" charset="0"/>
                <a:cs typeface="Times New Roman" panose="02020603050405020304" pitchFamily="18" charset="0"/>
              </a:rPr>
              <a:t>The Open University Short Course Website for the Open University of Sri Lanka – Kandy Regional Centre (KRC) is designed to provide a simple and convenient platform for individuals interested in short-term educational programs. The website allows users to explore available short courses, view course details, registration dates, schedules, fees, and eligibility requirements, while also enabling online registration. By offering easy access to accurate and up-to-date information, the website improves communication between the Kandy Regional Centre and prospective learners, making the process of finding and enrolling in short courses more efficient, accessible, and user-friendly.</a:t>
            </a:r>
          </a:p>
          <a:p>
            <a:endParaRPr lang="en-US" sz="2200" b="1" dirty="0">
              <a:latin typeface="Times New Roman" panose="02020603050405020304" pitchFamily="18" charset="0"/>
              <a:cs typeface="Times New Roman" panose="02020603050405020304" pitchFamily="18" charset="0"/>
            </a:endParaRPr>
          </a:p>
          <a:p>
            <a:endParaRPr lang="en-US" sz="2200" dirty="0"/>
          </a:p>
        </p:txBody>
      </p:sp>
    </p:spTree>
    <p:extLst>
      <p:ext uri="{BB962C8B-B14F-4D97-AF65-F5344CB8AC3E}">
        <p14:creationId xmlns:p14="http://schemas.microsoft.com/office/powerpoint/2010/main" val="3007167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30979-E30E-D9C0-ACA5-6D780C1C7D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5335E5-0BB6-7319-4BDD-716791239341}"/>
              </a:ext>
            </a:extLst>
          </p:cNvPr>
          <p:cNvSpPr>
            <a:spLocks noGrp="1"/>
          </p:cNvSpPr>
          <p:nvPr>
            <p:ph type="title"/>
          </p:nvPr>
        </p:nvSpPr>
        <p:spPr>
          <a:xfrm>
            <a:off x="1058117" y="363696"/>
            <a:ext cx="10515600" cy="1325563"/>
          </a:xfrm>
        </p:spPr>
        <p:txBody>
          <a:bodyPr>
            <a:normAutofit/>
          </a:bodyPr>
          <a:lstStyle/>
          <a:p>
            <a:r>
              <a:rPr lang="en-US" b="1" u="sng" dirty="0">
                <a:latin typeface="Times New Roman" panose="02020603050405020304" pitchFamily="18" charset="0"/>
                <a:cs typeface="Times New Roman" panose="02020603050405020304" pitchFamily="18" charset="0"/>
              </a:rPr>
              <a:t>Client Details</a:t>
            </a:r>
            <a:endParaRPr lang="en-US" dirty="0"/>
          </a:p>
        </p:txBody>
      </p:sp>
      <p:sp>
        <p:nvSpPr>
          <p:cNvPr id="6" name="Rectangle 5">
            <a:extLst>
              <a:ext uri="{FF2B5EF4-FFF2-40B4-BE49-F238E27FC236}">
                <a16:creationId xmlns:a16="http://schemas.microsoft.com/office/drawing/2014/main" id="{E25B3261-084C-FD06-BF86-6F4EEADDFB1C}"/>
              </a:ext>
            </a:extLst>
          </p:cNvPr>
          <p:cNvSpPr/>
          <p:nvPr/>
        </p:nvSpPr>
        <p:spPr>
          <a:xfrm>
            <a:off x="544011" y="509284"/>
            <a:ext cx="150471" cy="1006998"/>
          </a:xfrm>
          <a:prstGeom prst="rect">
            <a:avLst/>
          </a:prstGeom>
          <a:solidFill>
            <a:schemeClr val="bg2">
              <a:lumMod val="90000"/>
            </a:schemeClr>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1058117" y="2355089"/>
            <a:ext cx="5952744" cy="1555041"/>
          </a:xfrm>
          <a:prstGeom prst="rect">
            <a:avLst/>
          </a:prstGeom>
          <a:noFill/>
        </p:spPr>
        <p:txBody>
          <a:bodyPr wrap="square" rtlCol="0">
            <a:spAutoFit/>
          </a:bodyPr>
          <a:lstStyle/>
          <a:p>
            <a:pPr>
              <a:lnSpc>
                <a:spcPct val="150000"/>
              </a:lnSpc>
            </a:pPr>
            <a:r>
              <a:rPr lang="en-US" sz="2200" dirty="0">
                <a:latin typeface="Times New Roman" panose="02020603050405020304" pitchFamily="18" charset="0"/>
                <a:cs typeface="Times New Roman" panose="02020603050405020304" pitchFamily="18" charset="0"/>
              </a:rPr>
              <a:t>Open University Of Sri Lanka(</a:t>
            </a:r>
            <a:r>
              <a:rPr lang="en-US" sz="2200" dirty="0" err="1">
                <a:latin typeface="Times New Roman" panose="02020603050405020304" pitchFamily="18" charset="0"/>
                <a:cs typeface="Times New Roman" panose="02020603050405020304" pitchFamily="18" charset="0"/>
              </a:rPr>
              <a:t>OUSL</a:t>
            </a:r>
            <a:r>
              <a:rPr lang="en-US" sz="2200" dirty="0">
                <a:latin typeface="Times New Roman" panose="02020603050405020304" pitchFamily="18" charset="0"/>
                <a:cs typeface="Times New Roman" panose="02020603050405020304" pitchFamily="18" charset="0"/>
              </a:rPr>
              <a:t>) </a:t>
            </a:r>
          </a:p>
          <a:p>
            <a:pPr>
              <a:lnSpc>
                <a:spcPct val="150000"/>
              </a:lnSpc>
            </a:pPr>
            <a:r>
              <a:rPr lang="en-US" sz="2200" dirty="0">
                <a:latin typeface="Times New Roman" panose="02020603050405020304" pitchFamily="18" charset="0"/>
                <a:cs typeface="Times New Roman" panose="02020603050405020304" pitchFamily="18" charset="0"/>
              </a:rPr>
              <a:t>Kandy Regional Center </a:t>
            </a:r>
          </a:p>
          <a:p>
            <a:pPr>
              <a:lnSpc>
                <a:spcPct val="150000"/>
              </a:lnSpc>
            </a:pPr>
            <a:r>
              <a:rPr lang="en-US" sz="2200" dirty="0">
                <a:latin typeface="Times New Roman" panose="02020603050405020304" pitchFamily="18" charset="0"/>
                <a:cs typeface="Times New Roman" panose="02020603050405020304" pitchFamily="18" charset="0"/>
              </a:rPr>
              <a:t>(Approval : pending)</a:t>
            </a:r>
          </a:p>
        </p:txBody>
      </p:sp>
    </p:spTree>
    <p:extLst>
      <p:ext uri="{BB962C8B-B14F-4D97-AF65-F5344CB8AC3E}">
        <p14:creationId xmlns:p14="http://schemas.microsoft.com/office/powerpoint/2010/main" val="947805254"/>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159ac9ad-818c-41ff-b63e-54452c41cd7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1453FB6A2089E4EA7BBE6CED60E580B" ma:contentTypeVersion="11" ma:contentTypeDescription="Create a new document." ma:contentTypeScope="" ma:versionID="d4c4a2b7a9ae9c17e76c3e7296b60cc8">
  <xsd:schema xmlns:xsd="http://www.w3.org/2001/XMLSchema" xmlns:xs="http://www.w3.org/2001/XMLSchema" xmlns:p="http://schemas.microsoft.com/office/2006/metadata/properties" xmlns:ns3="159ac9ad-818c-41ff-b63e-54452c41cd7e" xmlns:ns4="92688300-f915-491e-b43b-078b0f5169e8" targetNamespace="http://schemas.microsoft.com/office/2006/metadata/properties" ma:root="true" ma:fieldsID="34bdccf71b173d2ffa60447e49a74859" ns3:_="" ns4:_="">
    <xsd:import namespace="159ac9ad-818c-41ff-b63e-54452c41cd7e"/>
    <xsd:import namespace="92688300-f915-491e-b43b-078b0f5169e8"/>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_activity"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9ac9ad-818c-41ff-b63e-54452c41cd7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_activity" ma:index="17" nillable="true" ma:displayName="_activity" ma:hidden="true" ma:internalName="_activity">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2688300-f915-491e-b43b-078b0f5169e8"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3B0CB7F-944C-4870-98B1-3B5DF344CD75}">
  <ds:schemaRefs>
    <ds:schemaRef ds:uri="http://schemas.microsoft.com/sharepoint/v3/contenttype/forms"/>
  </ds:schemaRefs>
</ds:datastoreItem>
</file>

<file path=customXml/itemProps2.xml><?xml version="1.0" encoding="utf-8"?>
<ds:datastoreItem xmlns:ds="http://schemas.openxmlformats.org/officeDocument/2006/customXml" ds:itemID="{5D239F25-2C1A-47AA-8BA1-982BEF968203}">
  <ds:schemaRefs>
    <ds:schemaRef ds:uri="http://www.w3.org/XML/1998/namespace"/>
    <ds:schemaRef ds:uri="http://schemas.microsoft.com/office/infopath/2007/PartnerControls"/>
    <ds:schemaRef ds:uri="159ac9ad-818c-41ff-b63e-54452c41cd7e"/>
    <ds:schemaRef ds:uri="http://schemas.microsoft.com/office/2006/metadata/properties"/>
    <ds:schemaRef ds:uri="http://schemas.openxmlformats.org/package/2006/metadata/core-properties"/>
    <ds:schemaRef ds:uri="http://purl.org/dc/terms/"/>
    <ds:schemaRef ds:uri="http://schemas.microsoft.com/office/2006/documentManagement/types"/>
    <ds:schemaRef ds:uri="http://purl.org/dc/elements/1.1/"/>
    <ds:schemaRef ds:uri="92688300-f915-491e-b43b-078b0f5169e8"/>
    <ds:schemaRef ds:uri="http://purl.org/dc/dcmitype/"/>
  </ds:schemaRefs>
</ds:datastoreItem>
</file>

<file path=customXml/itemProps3.xml><?xml version="1.0" encoding="utf-8"?>
<ds:datastoreItem xmlns:ds="http://schemas.openxmlformats.org/officeDocument/2006/customXml" ds:itemID="{E5C90E09-DCCF-4ED5-8A10-1CDF796552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9ac9ad-818c-41ff-b63e-54452c41cd7e"/>
    <ds:schemaRef ds:uri="92688300-f915-491e-b43b-078b0f5169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41</TotalTime>
  <Words>221</Words>
  <Application>Microsoft Office PowerPoint</Application>
  <PresentationFormat>Widescreen</PresentationFormat>
  <Paragraphs>32</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Times New Roman</vt:lpstr>
      <vt:lpstr>Office 2013 - 2022 Theme</vt:lpstr>
      <vt:lpstr>EER4189 Software Design in Group</vt:lpstr>
      <vt:lpstr>Project Team Description</vt:lpstr>
      <vt:lpstr>Existing Problem</vt:lpstr>
      <vt:lpstr>Client Details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EER4189 Software Design in Group</dc:title>
  <dc:creator>M.M.A.G.S.A. Warnathilake</dc:creator>
  <cp:lastModifiedBy>M.M.A.G.S.A. Warnathilake</cp:lastModifiedBy>
  <cp:revision>5</cp:revision>
  <dcterms:created xsi:type="dcterms:W3CDTF">2026-06-27T15:44:52Z</dcterms:created>
  <dcterms:modified xsi:type="dcterms:W3CDTF">2026-06-29T08:22:11Z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0x010100A1453FB6A2089E4EA7BBE6CED60E580B</vt:lpwstr>
  </property>
</Properties>
</file>